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32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2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we built an ML model to predict ground-level PM2.5 air pollution from satellite and weather data, and translate it into health-based safety categories. Worked in a pair: one on satellite EDA, one on weather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human stakes first. Three stakeholder groups, all making decisions off the same question: is the air safe right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goal. We predict the continuous PM2.5 number (scored by RMSE) and bin it into low/medium/high/severe so the output is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readings for 340 anonymized locations over the COVID-onset window. Place_ID has no coordinates. Target is continuous PM2.5.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Health-based cutoffs (not even/quartile splits) keep the 'low/safe' label genuinely safe, and happen to give balanced classes. % of data shown under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Division of labour: I (Karin) owned the weather EDA; my partner owned the satellite EDA. We then merged and modelled together. Partner is now extending to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 from my EDA: weather is weakly correlated with PM2.5 — it modulates pollution (disperses, washes out) but does not create it. Still useful for interactions in tree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Partner's EDA: satellite pollutant column densities (CO, HCHO, NO2) are ~10x more correlated with PM2.5 than weather. Watch out for sensor_altitude — it's a location proxy, not a real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step: grouped split by Place_ID so validation reflects unseen locations — a random split would leak each location's typical level and over-state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GroupKFold — cross-validation that never shares a location between folds, matching how the model would be deployed on new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Placeholders — paste final RMSE values and the confusion matrix image. Stress the unseen-location validation and that we check we don't under-warn on dangerous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headline takeaways — the proxy-feature and grouped-validation points show analytical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next steps (partner's time-series work)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3258">
              <a:alpha val="6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5105626" y="686230"/>
            <a:ext cx="153520" cy="153520"/>
          </a:xfrm>
          <a:prstGeom prst="ellipse">
            <a:avLst/>
          </a:prstGeom>
          <a:solidFill>
            <a:srgbClr val="2F95B8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72481" y="4316086"/>
            <a:ext cx="156732" cy="156732"/>
          </a:xfrm>
          <a:prstGeom prst="ellipse">
            <a:avLst/>
          </a:prstGeom>
          <a:solidFill>
            <a:srgbClr val="8FCFE3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040918" y="3263216"/>
            <a:ext cx="112084" cy="112084"/>
          </a:xfrm>
          <a:prstGeom prst="ellipse">
            <a:avLst/>
          </a:prstGeom>
          <a:solidFill>
            <a:srgbClr val="2F95B8">
              <a:alpha val="2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081550" y="888324"/>
            <a:ext cx="102154" cy="102154"/>
          </a:xfrm>
          <a:prstGeom prst="ellipse">
            <a:avLst/>
          </a:prstGeom>
          <a:solidFill>
            <a:srgbClr val="8FCFE3">
              <a:alpha val="2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622432" y="4602565"/>
            <a:ext cx="90310" cy="90310"/>
          </a:xfrm>
          <a:prstGeom prst="ellipse">
            <a:avLst/>
          </a:prstGeom>
          <a:solidFill>
            <a:srgbClr val="8FCFE3">
              <a:alpha val="4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8572255" y="1036507"/>
            <a:ext cx="144228" cy="144228"/>
          </a:xfrm>
          <a:prstGeom prst="ellipse">
            <a:avLst/>
          </a:prstGeom>
          <a:solidFill>
            <a:srgbClr val="2F95B8">
              <a:alpha val="26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2648035" y="947332"/>
            <a:ext cx="190023" cy="190023"/>
          </a:xfrm>
          <a:prstGeom prst="ellipse">
            <a:avLst/>
          </a:prstGeom>
          <a:solidFill>
            <a:srgbClr val="8FCFE3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985023" y="1708117"/>
            <a:ext cx="101654" cy="101654"/>
          </a:xfrm>
          <a:prstGeom prst="ellipse">
            <a:avLst/>
          </a:prstGeom>
          <a:solidFill>
            <a:srgbClr val="2F95B8">
              <a:alpha val="1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3255753" y="515830"/>
            <a:ext cx="125614" cy="125614"/>
          </a:xfrm>
          <a:prstGeom prst="ellipse">
            <a:avLst/>
          </a:prstGeom>
          <a:solidFill>
            <a:srgbClr val="8FCFE3">
              <a:alpha val="37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314839" y="1259493"/>
            <a:ext cx="232722" cy="232722"/>
          </a:xfrm>
          <a:prstGeom prst="ellipse">
            <a:avLst/>
          </a:prstGeom>
          <a:solidFill>
            <a:srgbClr val="8FCFE3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5913534" y="783863"/>
            <a:ext cx="207529" cy="207529"/>
          </a:xfrm>
          <a:prstGeom prst="ellipse">
            <a:avLst/>
          </a:prstGeom>
          <a:solidFill>
            <a:srgbClr val="2F95B8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601171" y="2097427"/>
            <a:ext cx="73007" cy="73007"/>
          </a:xfrm>
          <a:prstGeom prst="ellipse">
            <a:avLst/>
          </a:prstGeom>
          <a:solidFill>
            <a:srgbClr val="8FCFE3">
              <a:alpha val="2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3035244" y="2221048"/>
            <a:ext cx="247015" cy="247015"/>
          </a:xfrm>
          <a:prstGeom prst="ellipse">
            <a:avLst/>
          </a:prstGeom>
          <a:solidFill>
            <a:srgbClr val="2F95B8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4139485" y="2226042"/>
            <a:ext cx="223529" cy="223529"/>
          </a:xfrm>
          <a:prstGeom prst="ellipse">
            <a:avLst/>
          </a:prstGeom>
          <a:solidFill>
            <a:srgbClr val="2F95B8">
              <a:alpha val="37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1340029" y="1422657"/>
            <a:ext cx="204338" cy="204338"/>
          </a:xfrm>
          <a:prstGeom prst="ellipse">
            <a:avLst/>
          </a:prstGeom>
          <a:solidFill>
            <a:srgbClr val="8FCFE3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8319008" y="4228236"/>
            <a:ext cx="249667" cy="249667"/>
          </a:xfrm>
          <a:prstGeom prst="ellipse">
            <a:avLst/>
          </a:prstGeom>
          <a:solidFill>
            <a:srgbClr val="8FCFE3">
              <a:alpha val="2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394396" y="1676014"/>
            <a:ext cx="166420" cy="166420"/>
          </a:xfrm>
          <a:prstGeom prst="ellipse">
            <a:avLst/>
          </a:prstGeom>
          <a:solidFill>
            <a:srgbClr val="2F95B8">
              <a:alpha val="3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6203847" y="3642641"/>
            <a:ext cx="134035" cy="134035"/>
          </a:xfrm>
          <a:prstGeom prst="ellipse">
            <a:avLst/>
          </a:prstGeom>
          <a:solidFill>
            <a:srgbClr val="2F95B8">
              <a:alpha val="1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3341172" y="2922417"/>
            <a:ext cx="56273" cy="56273"/>
          </a:xfrm>
          <a:prstGeom prst="ellipse">
            <a:avLst/>
          </a:prstGeom>
          <a:solidFill>
            <a:srgbClr val="2F95B8">
              <a:alpha val="4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4188027" y="4284900"/>
            <a:ext cx="254134" cy="254134"/>
          </a:xfrm>
          <a:prstGeom prst="ellipse">
            <a:avLst/>
          </a:prstGeom>
          <a:solidFill>
            <a:srgbClr val="8FCFE3">
              <a:alpha val="29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7145904" y="4398738"/>
            <a:ext cx="80031" cy="80031"/>
          </a:xfrm>
          <a:prstGeom prst="ellipse">
            <a:avLst/>
          </a:prstGeom>
          <a:solidFill>
            <a:srgbClr val="2F95B8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6389737" y="3454712"/>
            <a:ext cx="85933" cy="85933"/>
          </a:xfrm>
          <a:prstGeom prst="ellipse">
            <a:avLst/>
          </a:prstGeom>
          <a:solidFill>
            <a:srgbClr val="8FCFE3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7473658" y="939179"/>
            <a:ext cx="101098" cy="101098"/>
          </a:xfrm>
          <a:prstGeom prst="ellipse">
            <a:avLst/>
          </a:prstGeom>
          <a:solidFill>
            <a:srgbClr val="2F95B8">
              <a:alpha val="4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4897722" y="4087188"/>
            <a:ext cx="59089" cy="59089"/>
          </a:xfrm>
          <a:prstGeom prst="ellipse">
            <a:avLst/>
          </a:prstGeom>
          <a:solidFill>
            <a:srgbClr val="8FCFE3">
              <a:alpha val="4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639741" y="1466480"/>
            <a:ext cx="154244" cy="154244"/>
          </a:xfrm>
          <a:prstGeom prst="ellipse">
            <a:avLst/>
          </a:prstGeom>
          <a:solidFill>
            <a:srgbClr val="2F95B8">
              <a:alpha val="4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2204569" y="1544852"/>
            <a:ext cx="126412" cy="126412"/>
          </a:xfrm>
          <a:prstGeom prst="ellipse">
            <a:avLst/>
          </a:prstGeom>
          <a:solidFill>
            <a:srgbClr val="8FCFE3">
              <a:alpha val="4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190820" y="3104231"/>
            <a:ext cx="87973" cy="87973"/>
          </a:xfrm>
          <a:prstGeom prst="ellipse">
            <a:avLst/>
          </a:prstGeom>
          <a:solidFill>
            <a:srgbClr val="2F95B8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4379186" y="2108841"/>
            <a:ext cx="76801" cy="76801"/>
          </a:xfrm>
          <a:prstGeom prst="ellipse">
            <a:avLst/>
          </a:prstGeom>
          <a:solidFill>
            <a:srgbClr val="2F95B8">
              <a:alpha val="19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6668761" y="1743277"/>
            <a:ext cx="145672" cy="145672"/>
          </a:xfrm>
          <a:prstGeom prst="ellipse">
            <a:avLst/>
          </a:prstGeom>
          <a:solidFill>
            <a:srgbClr val="8FCFE3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2534958" y="1846108"/>
            <a:ext cx="183448" cy="183448"/>
          </a:xfrm>
          <a:prstGeom prst="ellipse">
            <a:avLst/>
          </a:prstGeom>
          <a:solidFill>
            <a:srgbClr val="2F95B8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783110" y="1023156"/>
            <a:ext cx="71537" cy="71537"/>
          </a:xfrm>
          <a:prstGeom prst="ellipse">
            <a:avLst/>
          </a:prstGeom>
          <a:solidFill>
            <a:srgbClr val="2F95B8">
              <a:alpha val="4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4041272" y="1930696"/>
            <a:ext cx="175643" cy="175643"/>
          </a:xfrm>
          <a:prstGeom prst="ellipse">
            <a:avLst/>
          </a:prstGeom>
          <a:solidFill>
            <a:srgbClr val="8FCFE3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Shape 33"/>
          <p:cNvSpPr/>
          <p:nvPr/>
        </p:nvSpPr>
        <p:spPr>
          <a:xfrm>
            <a:off x="3883415" y="709058"/>
            <a:ext cx="161108" cy="161108"/>
          </a:xfrm>
          <a:prstGeom prst="ellipse">
            <a:avLst/>
          </a:prstGeom>
          <a:solidFill>
            <a:srgbClr val="8FCFE3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Shape 34"/>
          <p:cNvSpPr/>
          <p:nvPr/>
        </p:nvSpPr>
        <p:spPr>
          <a:xfrm>
            <a:off x="8139515" y="3360544"/>
            <a:ext cx="155214" cy="155214"/>
          </a:xfrm>
          <a:prstGeom prst="ellipse">
            <a:avLst/>
          </a:prstGeom>
          <a:solidFill>
            <a:srgbClr val="2F95B8">
              <a:alpha val="1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3831863" y="2503349"/>
            <a:ext cx="233088" cy="233088"/>
          </a:xfrm>
          <a:prstGeom prst="ellipse">
            <a:avLst/>
          </a:prstGeom>
          <a:solidFill>
            <a:srgbClr val="8FCFE3">
              <a:alpha val="1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Shape 36"/>
          <p:cNvSpPr/>
          <p:nvPr/>
        </p:nvSpPr>
        <p:spPr>
          <a:xfrm>
            <a:off x="4967713" y="4844202"/>
            <a:ext cx="238888" cy="238888"/>
          </a:xfrm>
          <a:prstGeom prst="ellipse">
            <a:avLst/>
          </a:prstGeom>
          <a:solidFill>
            <a:srgbClr val="8FCFE3">
              <a:alpha val="16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845199" y="4762365"/>
            <a:ext cx="143430" cy="143430"/>
          </a:xfrm>
          <a:prstGeom prst="ellipse">
            <a:avLst/>
          </a:prstGeom>
          <a:solidFill>
            <a:srgbClr val="8FCFE3">
              <a:alpha val="2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6772054" y="3857474"/>
            <a:ext cx="133604" cy="133604"/>
          </a:xfrm>
          <a:prstGeom prst="ellipse">
            <a:avLst/>
          </a:prstGeom>
          <a:solidFill>
            <a:srgbClr val="8FCFE3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6519371" y="383139"/>
            <a:ext cx="232381" cy="232381"/>
          </a:xfrm>
          <a:prstGeom prst="ellipse">
            <a:avLst/>
          </a:prstGeom>
          <a:solidFill>
            <a:srgbClr val="2F95B8">
              <a:alpha val="29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2" name="Shape 40"/>
          <p:cNvSpPr/>
          <p:nvPr/>
        </p:nvSpPr>
        <p:spPr>
          <a:xfrm>
            <a:off x="5966404" y="869980"/>
            <a:ext cx="254117" cy="254117"/>
          </a:xfrm>
          <a:prstGeom prst="ellipse">
            <a:avLst/>
          </a:prstGeom>
          <a:solidFill>
            <a:srgbClr val="8FCFE3">
              <a:alpha val="4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4815125" y="1634434"/>
            <a:ext cx="95122" cy="95122"/>
          </a:xfrm>
          <a:prstGeom prst="ellipse">
            <a:avLst/>
          </a:prstGeom>
          <a:solidFill>
            <a:srgbClr val="2F95B8">
              <a:alpha val="1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491669" y="1986749"/>
            <a:ext cx="158353" cy="158353"/>
          </a:xfrm>
          <a:prstGeom prst="ellipse">
            <a:avLst/>
          </a:prstGeom>
          <a:solidFill>
            <a:srgbClr val="2F95B8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Shape 43"/>
          <p:cNvSpPr/>
          <p:nvPr/>
        </p:nvSpPr>
        <p:spPr>
          <a:xfrm>
            <a:off x="6678168" y="1589388"/>
            <a:ext cx="101701" cy="101701"/>
          </a:xfrm>
          <a:prstGeom prst="ellipse">
            <a:avLst/>
          </a:prstGeom>
          <a:solidFill>
            <a:srgbClr val="8FCFE3">
              <a:alpha val="2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6" name="Shape 44"/>
          <p:cNvSpPr/>
          <p:nvPr/>
        </p:nvSpPr>
        <p:spPr>
          <a:xfrm>
            <a:off x="7470836" y="985346"/>
            <a:ext cx="134406" cy="134406"/>
          </a:xfrm>
          <a:prstGeom prst="ellipse">
            <a:avLst/>
          </a:prstGeom>
          <a:solidFill>
            <a:srgbClr val="2F95B8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7" name="Shape 45"/>
          <p:cNvSpPr/>
          <p:nvPr/>
        </p:nvSpPr>
        <p:spPr>
          <a:xfrm>
            <a:off x="5172607" y="541512"/>
            <a:ext cx="234736" cy="234736"/>
          </a:xfrm>
          <a:prstGeom prst="ellipse">
            <a:avLst/>
          </a:prstGeom>
          <a:solidFill>
            <a:srgbClr val="2F95B8">
              <a:alpha val="29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8" name="Shape 46"/>
          <p:cNvSpPr/>
          <p:nvPr/>
        </p:nvSpPr>
        <p:spPr>
          <a:xfrm>
            <a:off x="3712012" y="2561949"/>
            <a:ext cx="105284" cy="105284"/>
          </a:xfrm>
          <a:prstGeom prst="ellipse">
            <a:avLst/>
          </a:prstGeom>
          <a:solidFill>
            <a:srgbClr val="2F95B8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9" name="Text 47"/>
          <p:cNvSpPr/>
          <p:nvPr/>
        </p:nvSpPr>
        <p:spPr>
          <a:xfrm>
            <a:off x="50292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NEUEFISCHE · DATA SCIENCE &amp; AI BOOTCAMP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Urban Air Pollution</a:t>
            </a:r>
            <a:endParaRPr lang="en-US" sz="4400" dirty="0"/>
          </a:p>
        </p:txBody>
      </p:sp>
      <p:sp>
        <p:nvSpPr>
          <p:cNvPr id="51" name="Text 49"/>
          <p:cNvSpPr/>
          <p:nvPr/>
        </p:nvSpPr>
        <p:spPr>
          <a:xfrm>
            <a:off x="5029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satellite &amp; weather data to health-based air-quality alerts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02920" y="3246120"/>
            <a:ext cx="2011680" cy="0"/>
          </a:xfrm>
          <a:prstGeom prst="line">
            <a:avLst/>
          </a:prstGeom>
          <a:noFill/>
          <a:ln w="25400">
            <a:solidFill>
              <a:srgbClr val="2F95B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3" name="Text 51"/>
          <p:cNvSpPr/>
          <p:nvPr/>
        </p:nvSpPr>
        <p:spPr>
          <a:xfrm>
            <a:off x="502920" y="3429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Friedrich </a:t>
            </a: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Hertlen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Karin Riklin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Zindi Urban Air Pollution Challenge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is a daily health decision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Ground-level PM2.5 (fine particulate matter) is one of the largest environmental health risks worldwide. People need to know — today — whether the air is safe to be 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2529840" cy="2331720"/>
          </a:xfrm>
          <a:prstGeom prst="roundRect">
            <a:avLst>
              <a:gd name="adj" fmla="val 3137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individuals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01568"/>
            <a:ext cx="198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respiratory or chronic illness, infants and the elderly need to decide whether it is safe to leave the house.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07080" y="2148840"/>
            <a:ext cx="2529840" cy="2331720"/>
          </a:xfrm>
          <a:prstGeom prst="roundRect">
            <a:avLst>
              <a:gd name="adj" fmla="val 3137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3581400" y="2423160"/>
            <a:ext cx="457200" cy="457200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3581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81400" y="301752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Municipalities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81400" y="3401568"/>
            <a:ext cx="198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public warnings, restrict traffic and trigger interventions when pollution spikes.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11240" y="2148840"/>
            <a:ext cx="2529840" cy="2331720"/>
          </a:xfrm>
          <a:prstGeom prst="roundRect">
            <a:avLst>
              <a:gd name="adj" fmla="val 3137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6385560" y="242316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63855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5560" y="301752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5560" y="3401568"/>
            <a:ext cx="198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outdoor operations </a:t>
            </a:r>
            <a:r>
              <a:rPr lang="en-US" sz="120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events and </a:t>
            </a: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health-liability risk.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05626" y="686230"/>
            <a:ext cx="153520" cy="153520"/>
          </a:xfrm>
          <a:prstGeom prst="ellipse">
            <a:avLst/>
          </a:prstGeom>
          <a:solidFill>
            <a:srgbClr val="2F95B8">
              <a:alpha val="3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872481" y="4316086"/>
            <a:ext cx="156732" cy="156732"/>
          </a:xfrm>
          <a:prstGeom prst="ellipse">
            <a:avLst/>
          </a:prstGeom>
          <a:solidFill>
            <a:srgbClr val="8FCFE3">
              <a:alpha val="3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7040918" y="3263216"/>
            <a:ext cx="112084" cy="112084"/>
          </a:xfrm>
          <a:prstGeom prst="ellipse">
            <a:avLst/>
          </a:prstGeom>
          <a:solidFill>
            <a:srgbClr val="2F95B8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081550" y="888324"/>
            <a:ext cx="102154" cy="102154"/>
          </a:xfrm>
          <a:prstGeom prst="ellipse">
            <a:avLst/>
          </a:prstGeom>
          <a:solidFill>
            <a:srgbClr val="8FCFE3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22432" y="4602565"/>
            <a:ext cx="90310" cy="90310"/>
          </a:xfrm>
          <a:prstGeom prst="ellipse">
            <a:avLst/>
          </a:prstGeom>
          <a:solidFill>
            <a:srgbClr val="8FCFE3">
              <a:alpha val="4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572255" y="1036507"/>
            <a:ext cx="144228" cy="144228"/>
          </a:xfrm>
          <a:prstGeom prst="ellipse">
            <a:avLst/>
          </a:prstGeom>
          <a:solidFill>
            <a:srgbClr val="2F95B8">
              <a:alpha val="29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2648035" y="947332"/>
            <a:ext cx="190023" cy="190023"/>
          </a:xfrm>
          <a:prstGeom prst="ellipse">
            <a:avLst/>
          </a:prstGeom>
          <a:solidFill>
            <a:srgbClr val="8FCFE3">
              <a:alpha val="3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985023" y="1708117"/>
            <a:ext cx="101654" cy="101654"/>
          </a:xfrm>
          <a:prstGeom prst="ellipse">
            <a:avLst/>
          </a:prstGeom>
          <a:solidFill>
            <a:srgbClr val="2F95B8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3255753" y="515830"/>
            <a:ext cx="125614" cy="125614"/>
          </a:xfrm>
          <a:prstGeom prst="ellipse">
            <a:avLst/>
          </a:prstGeom>
          <a:solidFill>
            <a:srgbClr val="8FCFE3">
              <a:alpha val="3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4314839" y="1259493"/>
            <a:ext cx="232722" cy="232722"/>
          </a:xfrm>
          <a:prstGeom prst="ellipse">
            <a:avLst/>
          </a:prstGeom>
          <a:solidFill>
            <a:srgbClr val="8FCFE3">
              <a:alpha val="3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5913534" y="783863"/>
            <a:ext cx="207529" cy="207529"/>
          </a:xfrm>
          <a:prstGeom prst="ellipse">
            <a:avLst/>
          </a:prstGeom>
          <a:solidFill>
            <a:srgbClr val="2F95B8">
              <a:alpha val="3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601171" y="2097427"/>
            <a:ext cx="73007" cy="73007"/>
          </a:xfrm>
          <a:prstGeom prst="ellipse">
            <a:avLst/>
          </a:prstGeom>
          <a:solidFill>
            <a:srgbClr val="8FCFE3">
              <a:alpha val="26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3035244" y="2221048"/>
            <a:ext cx="247015" cy="247015"/>
          </a:xfrm>
          <a:prstGeom prst="ellipse">
            <a:avLst/>
          </a:prstGeom>
          <a:solidFill>
            <a:srgbClr val="2F95B8">
              <a:alpha val="3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139485" y="2226042"/>
            <a:ext cx="223529" cy="223529"/>
          </a:xfrm>
          <a:prstGeom prst="ellipse">
            <a:avLst/>
          </a:prstGeom>
          <a:solidFill>
            <a:srgbClr val="2F95B8">
              <a:alpha val="3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1340029" y="1422657"/>
            <a:ext cx="204338" cy="204338"/>
          </a:xfrm>
          <a:prstGeom prst="ellipse">
            <a:avLst/>
          </a:prstGeom>
          <a:solidFill>
            <a:srgbClr val="8FCFE3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8319008" y="4228236"/>
            <a:ext cx="249667" cy="249667"/>
          </a:xfrm>
          <a:prstGeom prst="ellipse">
            <a:avLst/>
          </a:prstGeom>
          <a:solidFill>
            <a:srgbClr val="8FCFE3">
              <a:alpha val="26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394396" y="1676014"/>
            <a:ext cx="166420" cy="166420"/>
          </a:xfrm>
          <a:prstGeom prst="ellipse">
            <a:avLst/>
          </a:prstGeom>
          <a:solidFill>
            <a:srgbClr val="2F95B8">
              <a:alpha val="39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6203847" y="3642641"/>
            <a:ext cx="134035" cy="134035"/>
          </a:xfrm>
          <a:prstGeom prst="ellipse">
            <a:avLst/>
          </a:prstGeom>
          <a:solidFill>
            <a:srgbClr val="2F95B8">
              <a:alpha val="17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3341172" y="2922417"/>
            <a:ext cx="56273" cy="56273"/>
          </a:xfrm>
          <a:prstGeom prst="ellipse">
            <a:avLst/>
          </a:prstGeom>
          <a:solidFill>
            <a:srgbClr val="2F95B8">
              <a:alpha val="4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4188027" y="4284900"/>
            <a:ext cx="254134" cy="254134"/>
          </a:xfrm>
          <a:prstGeom prst="ellipse">
            <a:avLst/>
          </a:prstGeom>
          <a:solidFill>
            <a:srgbClr val="8FCFE3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7145904" y="4398738"/>
            <a:ext cx="80031" cy="80031"/>
          </a:xfrm>
          <a:prstGeom prst="ellipse">
            <a:avLst/>
          </a:prstGeom>
          <a:solidFill>
            <a:srgbClr val="2F95B8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6389737" y="3454712"/>
            <a:ext cx="85933" cy="85933"/>
          </a:xfrm>
          <a:prstGeom prst="ellipse">
            <a:avLst/>
          </a:prstGeom>
          <a:solidFill>
            <a:srgbClr val="8FCFE3">
              <a:alpha val="19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7473658" y="939179"/>
            <a:ext cx="101098" cy="101098"/>
          </a:xfrm>
          <a:prstGeom prst="ellipse">
            <a:avLst/>
          </a:prstGeom>
          <a:solidFill>
            <a:srgbClr val="2F95B8">
              <a:alpha val="4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4897722" y="4087188"/>
            <a:ext cx="59089" cy="59089"/>
          </a:xfrm>
          <a:prstGeom prst="ellipse">
            <a:avLst/>
          </a:prstGeom>
          <a:solidFill>
            <a:srgbClr val="8FCFE3">
              <a:alpha val="4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639741" y="1466480"/>
            <a:ext cx="154244" cy="154244"/>
          </a:xfrm>
          <a:prstGeom prst="ellipse">
            <a:avLst/>
          </a:prstGeom>
          <a:solidFill>
            <a:srgbClr val="2F95B8">
              <a:alpha val="4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2204569" y="1544852"/>
            <a:ext cx="126412" cy="126412"/>
          </a:xfrm>
          <a:prstGeom prst="ellipse">
            <a:avLst/>
          </a:prstGeom>
          <a:solidFill>
            <a:srgbClr val="8FCFE3">
              <a:alpha val="4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190820" y="3104231"/>
            <a:ext cx="87973" cy="87973"/>
          </a:xfrm>
          <a:prstGeom prst="ellipse">
            <a:avLst/>
          </a:prstGeom>
          <a:solidFill>
            <a:srgbClr val="2F95B8">
              <a:alpha val="3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379186" y="2108841"/>
            <a:ext cx="76801" cy="76801"/>
          </a:xfrm>
          <a:prstGeom prst="ellipse">
            <a:avLst/>
          </a:prstGeom>
          <a:solidFill>
            <a:srgbClr val="2F95B8">
              <a:alpha val="2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GOAL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114300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daily PM2.5 from satellite and weather data — and turn it into a clear, health-based air-quality level.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502920" y="283464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0E3258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86868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ANSWER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3291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safe to be outside today?”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worked with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30,557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location–day rows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2606040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060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(anonymized)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709160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days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Apr 2020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812280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7772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 families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3474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(Sentinel-5P) — NO₂, O₃, CO, HCHO, SO₂, aerosol, cloud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(NASA GFS) — temperature, humidity, wind, precipitable water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8F2EC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49834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PM2.5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35204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1 – 815 µg/m³   ·   median 50,  mean 61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right-skewed → long tail of pollution spikes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TARGET &amp; CATEGORIES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skewed number to safety levels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is heavily right-skewed (max 815), so RMSE is driven by the tail — we also tried a log transform. For users, we bin the value into four health-based categories (WHO / EPA aligned):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2852928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594360" y="2999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25 µg/m³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everyone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219456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2B70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260604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606040" y="2852928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2697480" y="2999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50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E8761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470916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709160" y="2852928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4800600" y="2999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90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0060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for sensitive groups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7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data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12280" y="219456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D7263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681228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812280" y="2852928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6903720" y="2999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+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0372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for everyone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data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</a:t>
            </a: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OUR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 — as a pair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481328" cy="2468880"/>
          </a:xfrm>
          <a:prstGeom prst="roundRect">
            <a:avLst>
              <a:gd name="adj" fmla="val 4938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1033272" y="19202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33272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" y="25146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2648" y="30175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the dataset into satellite and weather features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65960" y="26517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167128" y="1691640"/>
            <a:ext cx="1481328" cy="2468880"/>
          </a:xfrm>
          <a:prstGeom prst="roundRect">
            <a:avLst>
              <a:gd name="adj" fmla="val 4938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2697480" y="1920240"/>
            <a:ext cx="420624" cy="420624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269748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76856" y="25146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EDA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276856" y="30175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Karin — humidity, wind, temperature analysis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0168" y="26517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831336" y="1691640"/>
            <a:ext cx="1481328" cy="2468880"/>
          </a:xfrm>
          <a:prstGeom prst="roundRect">
            <a:avLst>
              <a:gd name="adj" fmla="val 4938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4361688" y="1920240"/>
            <a:ext cx="420624" cy="420624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4361688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41064" y="25146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EDA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41064" y="30175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— pollutant column densities, cloud, aerosol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94376" y="26517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495544" y="1691640"/>
            <a:ext cx="1481328" cy="2468880"/>
          </a:xfrm>
          <a:prstGeom prst="roundRect">
            <a:avLst>
              <a:gd name="adj" fmla="val 4938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6025896" y="1920240"/>
            <a:ext cx="420624" cy="420624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6025896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05272" y="25146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+ model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05272" y="30175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into one dataset; tested Random Forest &amp; XGBoost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58584" y="26517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159752" y="1691640"/>
            <a:ext cx="1481328" cy="2468880"/>
          </a:xfrm>
          <a:prstGeom prst="roundRect">
            <a:avLst>
              <a:gd name="adj" fmla="val 4938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7690104" y="1920240"/>
            <a:ext cx="420624" cy="420624"/>
          </a:xfrm>
          <a:prstGeom prst="ellipse">
            <a:avLst/>
          </a:prstGeom>
          <a:solidFill>
            <a:srgbClr val="9AA7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7690104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69480" y="25146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269480" y="30175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sequential modelling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</a:t>
            </a: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EDA — WEATHER  (Karin)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alone barely predicts PM2.5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5093208" cy="841248"/>
          </a:xfrm>
          <a:prstGeom prst="roundRect">
            <a:avLst>
              <a:gd name="adj" fmla="val 869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685799" y="1819656"/>
            <a:ext cx="206307" cy="146304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960119" y="1682496"/>
            <a:ext cx="42550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direct signal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60120" y="1965960"/>
            <a:ext cx="43195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weather feature correlates &lt; 0.09 with the target.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532888"/>
            <a:ext cx="5093208" cy="841248"/>
          </a:xfrm>
          <a:prstGeom prst="roundRect">
            <a:avLst>
              <a:gd name="adj" fmla="val 869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1"/>
          <p:cNvSpPr/>
          <p:nvPr/>
        </p:nvSpPr>
        <p:spPr>
          <a:xfrm>
            <a:off x="685799" y="2779776"/>
            <a:ext cx="206307" cy="146304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960119" y="2642616"/>
            <a:ext cx="42550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humidity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60120" y="2926080"/>
            <a:ext cx="43195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humidity ≈ precipitable water (r = 0.88) → drop one.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493008"/>
            <a:ext cx="5093208" cy="841248"/>
          </a:xfrm>
          <a:prstGeom prst="roundRect">
            <a:avLst>
              <a:gd name="adj" fmla="val 869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5"/>
          <p:cNvSpPr/>
          <p:nvPr/>
        </p:nvSpPr>
        <p:spPr>
          <a:xfrm>
            <a:off x="685799" y="3739896"/>
            <a:ext cx="206307" cy="146304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/>
          <p:nvPr/>
        </p:nvSpPr>
        <p:spPr>
          <a:xfrm>
            <a:off x="960119" y="3602736"/>
            <a:ext cx="42550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wind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60120" y="3886200"/>
            <a:ext cx="43195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u/v components into wind speed &amp; direction (sin/cos).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</a:t>
            </a: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EDA </a:t>
            </a:r>
            <a:r>
              <a:rPr lang="en-US" sz="11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SATELLITE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Co-pollutants </a:t>
            </a:r>
            <a:r>
              <a:rPr lang="en-US" sz="2700" b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better </a:t>
            </a: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6"/>
          <p:cNvSpPr/>
          <p:nvPr/>
        </p:nvSpPr>
        <p:spPr>
          <a:xfrm>
            <a:off x="502920" y="1538478"/>
            <a:ext cx="4901184" cy="841248"/>
          </a:xfrm>
          <a:prstGeom prst="roundRect">
            <a:avLst>
              <a:gd name="adj" fmla="val 869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685799" y="1785366"/>
            <a:ext cx="198529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960120" y="1648206"/>
            <a:ext cx="4094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60120" y="1931670"/>
            <a:ext cx="4156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CO, HCHO and NO₂ — combustion co-pollutants of PM2.5.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498598"/>
            <a:ext cx="4901184" cy="841248"/>
          </a:xfrm>
          <a:prstGeom prst="roundRect">
            <a:avLst>
              <a:gd name="adj" fmla="val 869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1"/>
          <p:cNvSpPr/>
          <p:nvPr/>
        </p:nvSpPr>
        <p:spPr>
          <a:xfrm>
            <a:off x="685799" y="2745486"/>
            <a:ext cx="198529" cy="146304"/>
          </a:xfrm>
          <a:prstGeom prst="ellipse">
            <a:avLst/>
          </a:prstGeom>
          <a:solidFill>
            <a:srgbClr val="E8761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960120" y="2608326"/>
            <a:ext cx="4094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methane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60120" y="2891790"/>
            <a:ext cx="4156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L3_CH4 columns are 81% missing → removed.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458718"/>
            <a:ext cx="4901184" cy="841248"/>
          </a:xfrm>
          <a:prstGeom prst="roundRect">
            <a:avLst>
              <a:gd name="adj" fmla="val 869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5"/>
          <p:cNvSpPr/>
          <p:nvPr/>
        </p:nvSpPr>
        <p:spPr>
          <a:xfrm>
            <a:off x="685799" y="3705606"/>
            <a:ext cx="198529" cy="14630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/>
          <p:nvPr/>
        </p:nvSpPr>
        <p:spPr>
          <a:xfrm>
            <a:off x="960120" y="3568446"/>
            <a:ext cx="4094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= location proxy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60120" y="3851910"/>
            <a:ext cx="4156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sensor_altitude ranks high but only tags location — geometry, not </a:t>
            </a:r>
            <a:r>
              <a:rPr lang="en-US" sz="110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pollution.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DATA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704088" y="16459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0408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53619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540"/>
                </a:solidFill>
                <a:latin typeface="Calibri" pitchFamily="34" charset="0"/>
                <a:cs typeface="Calibri" pitchFamily="34" charset="-120"/>
              </a:rPr>
              <a:t>Split the data to Train and Val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837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and 20% Val, separated by location ID.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4956048" y="16459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95604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53619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32120" y="1837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81%-empty methane block; median-imputed the rest.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441448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704088" y="267004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704088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5603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8620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&amp; direction; consolidated duplicate aerosol/cloud columns.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441448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956048" y="267004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4956048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25603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geometry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28620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Sensor/solar angles &amp; altitude — observation geometry, not pollution.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465576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704088" y="369417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704088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358444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3886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Step</a:t>
            </a:r>
            <a:r>
              <a:rPr lang="en-US" sz="1100"/>
              <a:t> </a:t>
            </a:r>
            <a:r>
              <a:rPr lang="en-US" sz="110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100" dirty="0">
              <a:solidFill>
                <a:srgbClr val="6B7B8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3465576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4956048" y="369417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4956048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32120" y="358444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3886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MODELING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758952" y="1719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5895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029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regressors, tuned </a:t>
            </a:r>
            <a:r>
              <a:rPr lang="en-US" sz="120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grid </a:t>
            </a: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4965192" y="1719072"/>
            <a:ext cx="502920" cy="502920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96519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2029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by location + held-out unseen locations.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758952" y="3090672"/>
            <a:ext cx="502920" cy="50292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75895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401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</a:t>
            </a:r>
            <a:r>
              <a:rPr lang="en-US" sz="120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PM2.5</a:t>
            </a:r>
            <a:br>
              <a:rPr lang="en-US" sz="120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42.12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965192" y="3090672"/>
            <a:ext cx="502920" cy="502920"/>
          </a:xfrm>
          <a:prstGeom prst="ellipse">
            <a:avLst/>
          </a:prstGeom>
          <a:solidFill>
            <a:srgbClr val="E8761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496519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3401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on PM2.5, then binned into the four categories.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 on unseen </a:t>
            </a:r>
            <a:r>
              <a:rPr lang="en-US" sz="1300" i="1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617736"/>
              </p:ext>
            </p:extLst>
          </p:nvPr>
        </p:nvGraphicFramePr>
        <p:xfrm>
          <a:off x="502920" y="1737360"/>
          <a:ext cx="4937760" cy="19659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(predict mean)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6323C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42.12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6323C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30.97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GroupKFold + grid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6323C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30.09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GroupKFold + grid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715000" y="1737360"/>
            <a:ext cx="2926080" cy="2468880"/>
          </a:xfrm>
          <a:prstGeom prst="roundRect">
            <a:avLst>
              <a:gd name="adj" fmla="val 2963"/>
            </a:avLst>
          </a:prstGeom>
          <a:solidFill>
            <a:srgbClr val="E8F2EC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58978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AFTER FINAL RUN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22860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RMSE</a:t>
            </a:r>
            <a:r>
              <a:rPr lang="en-US" sz="1400" b="1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____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accuracy:  ____ %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high+severe:  ____ 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taught 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66760" y="411480"/>
            <a:ext cx="164592" cy="164592"/>
          </a:xfrm>
          <a:prstGeom prst="ellipse">
            <a:avLst/>
          </a:prstGeom>
          <a:solidFill>
            <a:srgbClr val="2F95B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613648" y="457200"/>
            <a:ext cx="109728" cy="109728"/>
          </a:xfrm>
          <a:prstGeom prst="ellipse">
            <a:avLst/>
          </a:prstGeom>
          <a:solidFill>
            <a:srgbClr val="2F95B8">
              <a:alpha val="7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796528" y="502920"/>
            <a:ext cx="73152" cy="73152"/>
          </a:xfrm>
          <a:prstGeom prst="ellipse">
            <a:avLst/>
          </a:prstGeom>
          <a:solidFill>
            <a:srgbClr val="2F95B8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91640" y="1645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&gt; weather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0299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Co-pollutants (CO, NO₂, HCHO) carry the signal; weather only modulates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897880" y="1645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 </a:t>
            </a:r>
            <a:r>
              <a:rPr lang="en-US" sz="1600" b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features (?)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20299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‘Altitude’ ranked high only because it secretly encodes </a:t>
            </a:r>
            <a:r>
              <a:rPr lang="en-US" sz="115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9164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new places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34472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split gives an honest read on unseen locations.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FF5F9"/>
          </a:solidFill>
          <a:ln/>
          <a:effectLst>
            <a:outerShdw blurRad="88900" dist="25400" dir="5400000" algn="bl" rotWithShape="0">
              <a:srgbClr val="0A254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F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89788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/>
              <a:t>Number 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34472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04.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05626" y="686230"/>
            <a:ext cx="153520" cy="153520"/>
          </a:xfrm>
          <a:prstGeom prst="ellipse">
            <a:avLst/>
          </a:prstGeom>
          <a:solidFill>
            <a:srgbClr val="2F95B8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872481" y="4316086"/>
            <a:ext cx="156732" cy="156732"/>
          </a:xfrm>
          <a:prstGeom prst="ellipse">
            <a:avLst/>
          </a:prstGeom>
          <a:solidFill>
            <a:srgbClr val="8FCFE3">
              <a:alpha val="3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7040918" y="3263216"/>
            <a:ext cx="112084" cy="112084"/>
          </a:xfrm>
          <a:prstGeom prst="ellipse">
            <a:avLst/>
          </a:prstGeom>
          <a:solidFill>
            <a:srgbClr val="2F95B8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081550" y="888324"/>
            <a:ext cx="102154" cy="102154"/>
          </a:xfrm>
          <a:prstGeom prst="ellipse">
            <a:avLst/>
          </a:prstGeom>
          <a:solidFill>
            <a:srgbClr val="8FCFE3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22432" y="4602565"/>
            <a:ext cx="90310" cy="90310"/>
          </a:xfrm>
          <a:prstGeom prst="ellipse">
            <a:avLst/>
          </a:prstGeom>
          <a:solidFill>
            <a:srgbClr val="8FCFE3">
              <a:alpha val="4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572255" y="1036507"/>
            <a:ext cx="144228" cy="144228"/>
          </a:xfrm>
          <a:prstGeom prst="ellipse">
            <a:avLst/>
          </a:prstGeom>
          <a:solidFill>
            <a:srgbClr val="2F95B8">
              <a:alpha val="2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2648035" y="947332"/>
            <a:ext cx="190023" cy="190023"/>
          </a:xfrm>
          <a:prstGeom prst="ellipse">
            <a:avLst/>
          </a:prstGeom>
          <a:solidFill>
            <a:srgbClr val="8FCFE3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985023" y="1708117"/>
            <a:ext cx="101654" cy="101654"/>
          </a:xfrm>
          <a:prstGeom prst="ellipse">
            <a:avLst/>
          </a:prstGeom>
          <a:solidFill>
            <a:srgbClr val="2F95B8">
              <a:alpha val="2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3255753" y="515830"/>
            <a:ext cx="125614" cy="125614"/>
          </a:xfrm>
          <a:prstGeom prst="ellipse">
            <a:avLst/>
          </a:prstGeom>
          <a:solidFill>
            <a:srgbClr val="8FCFE3">
              <a:alpha val="3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4314839" y="1259493"/>
            <a:ext cx="232722" cy="232722"/>
          </a:xfrm>
          <a:prstGeom prst="ellipse">
            <a:avLst/>
          </a:prstGeom>
          <a:solidFill>
            <a:srgbClr val="8FCFE3">
              <a:alpha val="3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5913534" y="783863"/>
            <a:ext cx="207529" cy="207529"/>
          </a:xfrm>
          <a:prstGeom prst="ellipse">
            <a:avLst/>
          </a:prstGeom>
          <a:solidFill>
            <a:srgbClr val="2F95B8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601171" y="2097427"/>
            <a:ext cx="73007" cy="73007"/>
          </a:xfrm>
          <a:prstGeom prst="ellipse">
            <a:avLst/>
          </a:prstGeom>
          <a:solidFill>
            <a:srgbClr val="8FCFE3">
              <a:alpha val="2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3035244" y="2221048"/>
            <a:ext cx="247015" cy="247015"/>
          </a:xfrm>
          <a:prstGeom prst="ellipse">
            <a:avLst/>
          </a:prstGeom>
          <a:solidFill>
            <a:srgbClr val="2F95B8">
              <a:alpha val="3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139485" y="2226042"/>
            <a:ext cx="223529" cy="223529"/>
          </a:xfrm>
          <a:prstGeom prst="ellipse">
            <a:avLst/>
          </a:prstGeom>
          <a:solidFill>
            <a:srgbClr val="2F95B8">
              <a:alpha val="3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1340029" y="1422657"/>
            <a:ext cx="204338" cy="204338"/>
          </a:xfrm>
          <a:prstGeom prst="ellipse">
            <a:avLst/>
          </a:prstGeom>
          <a:solidFill>
            <a:srgbClr val="8FCFE3">
              <a:alpha val="1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8319008" y="4228236"/>
            <a:ext cx="249667" cy="249667"/>
          </a:xfrm>
          <a:prstGeom prst="ellipse">
            <a:avLst/>
          </a:prstGeom>
          <a:solidFill>
            <a:srgbClr val="8FCFE3">
              <a:alpha val="2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394396" y="1676014"/>
            <a:ext cx="166420" cy="166420"/>
          </a:xfrm>
          <a:prstGeom prst="ellipse">
            <a:avLst/>
          </a:prstGeom>
          <a:solidFill>
            <a:srgbClr val="2F95B8">
              <a:alpha val="39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6203847" y="3642641"/>
            <a:ext cx="134035" cy="134035"/>
          </a:xfrm>
          <a:prstGeom prst="ellipse">
            <a:avLst/>
          </a:prstGeom>
          <a:solidFill>
            <a:srgbClr val="2F95B8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3341172" y="2922417"/>
            <a:ext cx="56273" cy="56273"/>
          </a:xfrm>
          <a:prstGeom prst="ellipse">
            <a:avLst/>
          </a:prstGeom>
          <a:solidFill>
            <a:srgbClr val="2F95B8">
              <a:alpha val="4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4188027" y="4284900"/>
            <a:ext cx="254134" cy="254134"/>
          </a:xfrm>
          <a:prstGeom prst="ellipse">
            <a:avLst/>
          </a:prstGeom>
          <a:solidFill>
            <a:srgbClr val="8FCFE3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7145904" y="4398738"/>
            <a:ext cx="80031" cy="80031"/>
          </a:xfrm>
          <a:prstGeom prst="ellipse">
            <a:avLst/>
          </a:prstGeom>
          <a:solidFill>
            <a:srgbClr val="2F95B8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6389737" y="3454712"/>
            <a:ext cx="85933" cy="85933"/>
          </a:xfrm>
          <a:prstGeom prst="ellipse">
            <a:avLst/>
          </a:prstGeom>
          <a:solidFill>
            <a:srgbClr val="8FCFE3">
              <a:alpha val="1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7473658" y="939179"/>
            <a:ext cx="101098" cy="101098"/>
          </a:xfrm>
          <a:prstGeom prst="ellipse">
            <a:avLst/>
          </a:prstGeom>
          <a:solidFill>
            <a:srgbClr val="2F95B8">
              <a:alpha val="4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4897722" y="4087188"/>
            <a:ext cx="59089" cy="59089"/>
          </a:xfrm>
          <a:prstGeom prst="ellipse">
            <a:avLst/>
          </a:prstGeom>
          <a:solidFill>
            <a:srgbClr val="8FCFE3">
              <a:alpha val="4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639741" y="1466480"/>
            <a:ext cx="154244" cy="154244"/>
          </a:xfrm>
          <a:prstGeom prst="ellipse">
            <a:avLst/>
          </a:prstGeom>
          <a:solidFill>
            <a:srgbClr val="2F95B8">
              <a:alpha val="4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2204569" y="1544852"/>
            <a:ext cx="126412" cy="126412"/>
          </a:xfrm>
          <a:prstGeom prst="ellipse">
            <a:avLst/>
          </a:prstGeom>
          <a:solidFill>
            <a:srgbClr val="8FCFE3">
              <a:alpha val="4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190820" y="3104231"/>
            <a:ext cx="87973" cy="87973"/>
          </a:xfrm>
          <a:prstGeom prst="ellipse">
            <a:avLst/>
          </a:prstGeom>
          <a:solidFill>
            <a:srgbClr val="2F95B8">
              <a:alpha val="3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379186" y="2108841"/>
            <a:ext cx="76801" cy="76801"/>
          </a:xfrm>
          <a:prstGeom prst="ellipse">
            <a:avLst/>
          </a:prstGeom>
          <a:solidFill>
            <a:srgbClr val="2F95B8">
              <a:alpha val="21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6668761" y="1743277"/>
            <a:ext cx="145672" cy="145672"/>
          </a:xfrm>
          <a:prstGeom prst="ellipse">
            <a:avLst/>
          </a:prstGeom>
          <a:solidFill>
            <a:srgbClr val="8FCFE3">
              <a:alpha val="23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2534958" y="1846108"/>
            <a:ext cx="183448" cy="183448"/>
          </a:xfrm>
          <a:prstGeom prst="ellipse">
            <a:avLst/>
          </a:prstGeom>
          <a:solidFill>
            <a:srgbClr val="2F95B8">
              <a:alpha val="17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783110" y="1023156"/>
            <a:ext cx="71537" cy="71537"/>
          </a:xfrm>
          <a:prstGeom prst="ellipse">
            <a:avLst/>
          </a:prstGeom>
          <a:solidFill>
            <a:srgbClr val="2F95B8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4041272" y="1930696"/>
            <a:ext cx="175643" cy="175643"/>
          </a:xfrm>
          <a:prstGeom prst="ellipse">
            <a:avLst/>
          </a:prstGeom>
          <a:solidFill>
            <a:srgbClr val="8FCFE3">
              <a:alpha val="17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3883415" y="709058"/>
            <a:ext cx="161108" cy="161108"/>
          </a:xfrm>
          <a:prstGeom prst="ellipse">
            <a:avLst/>
          </a:prstGeom>
          <a:solidFill>
            <a:srgbClr val="8FCFE3">
              <a:alpha val="2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Shape 33"/>
          <p:cNvSpPr/>
          <p:nvPr/>
        </p:nvSpPr>
        <p:spPr>
          <a:xfrm>
            <a:off x="8139515" y="3360544"/>
            <a:ext cx="155214" cy="155214"/>
          </a:xfrm>
          <a:prstGeom prst="ellipse">
            <a:avLst/>
          </a:prstGeom>
          <a:solidFill>
            <a:srgbClr val="2F95B8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486883" y="182882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8" name="Text 46"/>
          <p:cNvSpPr/>
          <p:nvPr/>
        </p:nvSpPr>
        <p:spPr>
          <a:xfrm>
            <a:off x="622432" y="2693930"/>
            <a:ext cx="58874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1194</Words>
  <Application>Microsoft Macintosh PowerPoint</Application>
  <PresentationFormat>On-screen Show (16:9)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Air Pollution — ML Project</dc:title>
  <dc:subject>PptxGenJS Presentation</dc:subject>
  <dc:creator>Karin Riklin &amp; partner</dc:creator>
  <cp:lastModifiedBy>Karin Riklin</cp:lastModifiedBy>
  <cp:revision>3</cp:revision>
  <dcterms:created xsi:type="dcterms:W3CDTF">2026-06-25T10:08:46Z</dcterms:created>
  <dcterms:modified xsi:type="dcterms:W3CDTF">2026-06-25T11:04:42Z</dcterms:modified>
</cp:coreProperties>
</file>